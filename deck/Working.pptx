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2" r:id="rId4"/>
    <p:sldId id="259" r:id="rId5"/>
    <p:sldId id="260" r:id="rId6"/>
    <p:sldId id="261" r:id="rId7"/>
    <p:sldId id="263" r:id="rId8"/>
    <p:sldId id="258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90" y="-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156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85800"/>
            <a:ext cx="4160520" cy="457200"/>
          </a:xfrm>
          <a:prstGeom prst="rect">
            <a:avLst/>
          </a:prstGeom>
          <a:solidFill>
            <a:srgbClr val="FDDA24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94360" y="6858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WORKING  ×  STELLAR BOLIVIA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98348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02 · PAGOS Y REMESAS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0" dirty="0">
                <a:solidFill>
                  <a:srgbClr val="3D5A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WORKING</a:t>
            </a:r>
            <a:r>
              <a:rPr lang="en-US" sz="11500" dirty="0">
                <a:solidFill>
                  <a:srgbClr val="FDD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1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6118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preguntamos cuántos años de experiencia tienes.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41148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Preguntamos </a:t>
            </a:r>
            <a:r>
              <a:rPr lang="en-US" sz="2600" dirty="0">
                <a:solidFill>
                  <a:srgbClr val="3D5A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sabes hacer</a:t>
            </a:r>
            <a:r>
              <a:rPr lang="en-US" sz="2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4983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Bahnschrift SemiLight" panose="020B0502040204020203" pitchFamily="34" charset="0"/>
                <a:ea typeface="Arial" pitchFamily="34" charset="-122"/>
                <a:cs typeface="Arial" pitchFamily="34" charset="-120"/>
              </a:rPr>
              <a:t>Plataforma de freelancing para estudiantes y recién egresados en Bolivia.</a:t>
            </a:r>
            <a:endParaRPr lang="en-US" sz="1500" dirty="0">
              <a:latin typeface="Bahnschrift SemiLight" panose="020B0502040204020203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Bahnschrift SemiLight" panose="020B0502040204020203" pitchFamily="34" charset="0"/>
                <a:ea typeface="Arial" pitchFamily="34" charset="-122"/>
                <a:cs typeface="Arial" pitchFamily="34" charset="-120"/>
              </a:rPr>
              <a:t>Pagos protegidos por contrato inteligente en Stellar.</a:t>
            </a:r>
            <a:endParaRPr lang="en-US" sz="1500" dirty="0">
              <a:latin typeface="Bahnschrift SemiLight" panose="020B0502040204020203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94360" y="64190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IDEATÓN STELLAR BOLIVIA 2026  ·  WORKING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682935" y="64190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E457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NADIE CONFÍA, </a:t>
            </a:r>
            <a:r>
              <a:rPr lang="en-US" sz="3400" dirty="0">
                <a:solidFill>
                  <a:srgbClr val="3D5A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NADIE COBRA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lados del mismo muro: la falta de confianza.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5349240" cy="27889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240280"/>
            <a:ext cx="5349240" cy="2788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5603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ESTUDIANTE / EGRESADO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154680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 sin experiencia demostrable y no consigue su primer </a:t>
            </a:r>
            <a:r>
              <a:rPr lang="en-US" sz="145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 </a:t>
            </a:r>
            <a:r>
              <a:rPr lang="en-US" sz="145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</a:t>
            </a: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</a:t>
            </a:r>
            <a:r>
              <a:rPr lang="en-US" sz="145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facilidad</a:t>
            </a: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trabaja, le pagan tarde, menos de lo acordado o nunca.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Cobrar en dólares desde Bolivia es caro y </a:t>
            </a:r>
            <a:r>
              <a:rPr lang="en-US" sz="145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complicado</a:t>
            </a: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 </a:t>
            </a:r>
            <a:r>
              <a:rPr lang="en-US" sz="145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pierde</a:t>
            </a: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5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5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50" dirty="0" err="1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intercambio</a:t>
            </a: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28232" y="2331720"/>
            <a:ext cx="5349240" cy="27889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Shape 8"/>
          <p:cNvSpPr/>
          <p:nvPr/>
        </p:nvSpPr>
        <p:spPr>
          <a:xfrm>
            <a:off x="6336792" y="2240280"/>
            <a:ext cx="5349240" cy="2788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02552" y="25603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EMPRESA / QUIEN CONTRATA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702552" y="3154680"/>
            <a:ext cx="4663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confía en pagar por adelantado a alguien sin historial.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paga al final, el freelancer no confía.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trato no se cierra: se pierde el talento y el trabajo.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5349240"/>
            <a:ext cx="11002975" cy="9144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534924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no es la falta de talento. Es la falta de </a:t>
            </a:r>
            <a:r>
              <a:rPr lang="en-US" sz="2100" b="1" i="1" dirty="0">
                <a:solidFill>
                  <a:srgbClr val="FDD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</a:t>
            </a:r>
            <a:r>
              <a:rPr lang="en-US" sz="2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64190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IDEATÓN STELLAR BOLIVIA 2026  ·  WORKING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682935" y="64190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E457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RETENCIÓN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</a:t>
            </a:r>
            <a:r>
              <a:rPr lang="en-US" sz="3400" dirty="0">
                <a:solidFill>
                  <a:srgbClr val="3D5A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SE VAN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Quedarse vale más que ahorrarse la comisión.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2615184" cy="2011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240280"/>
            <a:ext cx="2615184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532888"/>
            <a:ext cx="365760" cy="109728"/>
          </a:xfrm>
          <a:prstGeom prst="rect">
            <a:avLst/>
          </a:prstGeom>
          <a:solidFill>
            <a:srgbClr val="3D5A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78892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 VENDE LA PROTECCIÓN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447288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escrow se necesita en cada proyecto, no solo en el primer match.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75304" y="2331720"/>
            <a:ext cx="2615184" cy="2011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1" name="Shape 9"/>
          <p:cNvSpPr/>
          <p:nvPr/>
        </p:nvSpPr>
        <p:spPr>
          <a:xfrm>
            <a:off x="3483864" y="2240280"/>
            <a:ext cx="2615184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58184" y="2532888"/>
            <a:ext cx="365760" cy="109728"/>
          </a:xfrm>
          <a:prstGeom prst="rect">
            <a:avLst/>
          </a:prstGeom>
          <a:solidFill>
            <a:srgbClr val="FDDA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58184" y="278892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FREELANCER COBRA 100%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758184" y="3447288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comisión y con reputación que solo crece dentro de Working.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64808" y="2331720"/>
            <a:ext cx="2615184" cy="2011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6" name="Shape 14"/>
          <p:cNvSpPr/>
          <p:nvPr/>
        </p:nvSpPr>
        <p:spPr>
          <a:xfrm>
            <a:off x="6373368" y="2240280"/>
            <a:ext cx="2615184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47688" y="2532888"/>
            <a:ext cx="365760" cy="109728"/>
          </a:xfrm>
          <a:prstGeom prst="rect">
            <a:avLst/>
          </a:prstGeom>
          <a:solidFill>
            <a:srgbClr val="00A67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47688" y="278892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TODO VIVE ADENTRO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47688" y="3447288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Chat, hitos, entregables y ganancias en un lugar. Salir da más trabajo.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354312" y="2331720"/>
            <a:ext cx="2615184" cy="20116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Shape 19"/>
          <p:cNvSpPr/>
          <p:nvPr/>
        </p:nvSpPr>
        <p:spPr>
          <a:xfrm>
            <a:off x="9262872" y="2240280"/>
            <a:ext cx="2615184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37192" y="2532888"/>
            <a:ext cx="36576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537192" y="278892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COMISIÓN DECRECIENTE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537192" y="3447288"/>
            <a:ext cx="2066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a la empresa y baja con la lealtad: irse casi no ahorra.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4754880"/>
            <a:ext cx="11002975" cy="16916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4663440"/>
            <a:ext cx="11002975" cy="1691640"/>
          </a:xfrm>
          <a:prstGeom prst="rect">
            <a:avLst/>
          </a:prstGeom>
          <a:solidFill>
            <a:srgbClr val="111111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DD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TRANSPARENTE, SIN SORPRESAS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528523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empresa paga </a:t>
            </a: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$105</a:t>
            </a:r>
            <a:r>
              <a:rPr lang="en-US" sz="13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  $100 al freelancer + $5 Working (5%).El freelancer recibe sus </a:t>
            </a:r>
            <a:r>
              <a:rPr lang="en-US" sz="1350" b="1" dirty="0">
                <a:solidFill>
                  <a:srgbClr val="FDD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 completos</a:t>
            </a:r>
            <a:r>
              <a:rPr lang="en-US" sz="13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086600" y="4937760"/>
            <a:ext cx="0" cy="114300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60920" y="4892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DD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LIBERACIÓN INMEDIATA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360920" y="528523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dinero ya está depositado y retenido. Al aprobar el hito, el freelancer cobra en </a:t>
            </a: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segundos</a:t>
            </a:r>
            <a:r>
              <a:rPr lang="en-US" sz="13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gracias a Stellar.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64190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IDEATÓN STELLAR BOLIVIA 2026  ·  WORKING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682935" y="64190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D5A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FUNCIONA </a:t>
            </a:r>
            <a:r>
              <a:rPr lang="en-US" sz="3400" dirty="0">
                <a:solidFill>
                  <a:srgbClr val="3D5A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dinero se bloquea al inicio y se libera con cada entrega.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2615184" cy="21031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286000"/>
            <a:ext cx="2615184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560320"/>
            <a:ext cx="4572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DD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5468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PUBLICA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65760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empresa crea el proyecto con hitos (ej. logo por $150 en 3 entregas).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75304" y="2377440"/>
            <a:ext cx="2615184" cy="21031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Shape 10"/>
          <p:cNvSpPr/>
          <p:nvPr/>
        </p:nvSpPr>
        <p:spPr>
          <a:xfrm>
            <a:off x="3483864" y="2286000"/>
            <a:ext cx="2615184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58184" y="2560320"/>
            <a:ext cx="4572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58184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DD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758184" y="315468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DEPOSITA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58184" y="365760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 en USDC y el dinero queda bloqueado en un contrato, no en nuestra cuenta.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64808" y="2377440"/>
            <a:ext cx="2615184" cy="21031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8" name="Shape 16"/>
          <p:cNvSpPr/>
          <p:nvPr/>
        </p:nvSpPr>
        <p:spPr>
          <a:xfrm>
            <a:off x="6373368" y="2286000"/>
            <a:ext cx="2615184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47688" y="2560320"/>
            <a:ext cx="4572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47688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DD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15468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ENTREGA Y APRUEBA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47688" y="365760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freelancer entrega cada hito y la empresa lo aprueba.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54312" y="2377440"/>
            <a:ext cx="2615184" cy="21031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4" name="Shape 22"/>
          <p:cNvSpPr/>
          <p:nvPr/>
        </p:nvSpPr>
        <p:spPr>
          <a:xfrm>
            <a:off x="9262872" y="2286000"/>
            <a:ext cx="2615184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37192" y="2560320"/>
            <a:ext cx="4572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537192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DD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537192" y="3154680"/>
            <a:ext cx="2066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COBRA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537192" y="3657600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pago de ese hito llega a su billetera en segundos.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" y="4736592"/>
            <a:ext cx="201168" cy="201168"/>
          </a:xfrm>
          <a:prstGeom prst="rect">
            <a:avLst/>
          </a:prstGeom>
          <a:solidFill>
            <a:srgbClr val="FDDA24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1832" y="466344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 LIBERA SOLO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5056632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el cliente no responde en </a:t>
            </a:r>
            <a:r>
              <a:rPr lang="en-US" sz="1200" b="1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</a:t>
            </a: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días, el hito se libera automáticamente.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34840" y="4736592"/>
            <a:ext cx="201168" cy="201168"/>
          </a:xfrm>
          <a:prstGeom prst="rect">
            <a:avLst/>
          </a:prstGeom>
          <a:solidFill>
            <a:srgbClr val="FDDA24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82312" y="466344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MEDIACIÓN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782312" y="5056632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hay un desacuerdo, interviene un mediador.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275320" y="4736592"/>
            <a:ext cx="201168" cy="201168"/>
          </a:xfrm>
          <a:prstGeom prst="rect">
            <a:avLst/>
          </a:prstGeom>
          <a:solidFill>
            <a:srgbClr val="FDDA24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622792" y="466344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HISTORIAL VERIFICABLE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622792" y="5056632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proyecto terminado queda como portafolio real del freelancer.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94360" y="64190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IDEATÓN STELLAR BOLIVIA 2026  ·  WORKING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682935" y="64190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00A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STELLAR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</a:t>
            </a:r>
            <a:r>
              <a:rPr lang="en-US" sz="3400" dirty="0">
                <a:solidFill>
                  <a:srgbClr val="3D5A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STELLAR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red diseñada para mover dinero, no para construir escrows desde cero.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6812280" cy="3383280"/>
          </a:xfrm>
          <a:prstGeom prst="rect">
            <a:avLst/>
          </a:prstGeom>
          <a:solidFill>
            <a:srgbClr val="111111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6812280" cy="3134360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LO QUE NECESITA WORKING</a:t>
                      </a:r>
                      <a:endParaRPr lang="en-US" sz="12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27000" marR="127000" marT="88900" marB="889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LO QUE DA STELLAR</a:t>
                      </a:r>
                      <a:endParaRPr lang="en-US" sz="125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27000" marR="127000" marT="88900" marB="889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Cobrar en dólares en Bolivia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USDC nativo de Circle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Liberar hitos pequeños ($10–20)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Comisión &lt; $0.001 y confirmación en ~5 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Escrow seguro sin construirlo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Escrow por hitos sobre Soroban (Trustless Work)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Usuarios que no saben de cripto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paga el fee; se entra con passkey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Llegar a bolivianos a futuro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 de anchors para pasar a moneda local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909560" y="2377440"/>
            <a:ext cx="3779215" cy="19202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Shape 5"/>
          <p:cNvSpPr/>
          <p:nvPr/>
        </p:nvSpPr>
        <p:spPr>
          <a:xfrm>
            <a:off x="7818120" y="2286000"/>
            <a:ext cx="3779215" cy="1920240"/>
          </a:xfrm>
          <a:prstGeom prst="rect">
            <a:avLst/>
          </a:prstGeom>
          <a:solidFill>
            <a:srgbClr val="111111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818120" y="2286000"/>
            <a:ext cx="3779215" cy="457200"/>
          </a:xfrm>
          <a:prstGeom prst="rect">
            <a:avLst/>
          </a:prstGeom>
          <a:solidFill>
            <a:srgbClr val="FDDA2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18120" y="2286000"/>
            <a:ext cx="3779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EN TESTNET  (+10%)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2926080"/>
            <a:ext cx="3230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Escrow creado, financiado y con un hito liberado.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092440" y="3611880"/>
            <a:ext cx="32305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DD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[Captura de stellar.expert + hash de la tx]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09560" y="4526280"/>
            <a:ext cx="3779215" cy="12344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Shape 11"/>
          <p:cNvSpPr/>
          <p:nvPr/>
        </p:nvSpPr>
        <p:spPr>
          <a:xfrm>
            <a:off x="7818120" y="4434840"/>
            <a:ext cx="3779215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92440" y="4572000"/>
            <a:ext cx="32305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“En otras redes tendríamos que programar y auditar el escrow, y el usuario pagaría gas. En Stellar ya existe.”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5897880"/>
            <a:ext cx="681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Base, Solana o Tron también son rápidas. Stellar gana en pagos: USDC nativo + anchors + escrow listo.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64190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IDEATÓN STELLAR BOLIVIA 2026  ·  WORKING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682935" y="64190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D5A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MODELO DE NEGOCIO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</a:t>
            </a:r>
            <a:r>
              <a:rPr lang="en-US" sz="3400" dirty="0">
                <a:solidFill>
                  <a:srgbClr val="3D5A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GANAMOS DINERO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Ganamos solo cuando el freelancer cobra.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3456432" cy="1508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286000"/>
            <a:ext cx="3456432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56032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COMISIÓN AL CONTRATANTE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90672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en cada pago liberado. Al estudiante no le cobramos nada.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2377440"/>
            <a:ext cx="3456432" cy="1508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2286000"/>
            <a:ext cx="3456432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256032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VISIBILIDAD DESTACADA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090672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Perfiles y vacantes destacadas: </a:t>
            </a:r>
            <a:r>
              <a:rPr lang="en-US" sz="1250" b="1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[Bs X]</a:t>
            </a: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 mes.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66760" y="2377440"/>
            <a:ext cx="3456432" cy="1508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Shape 12"/>
          <p:cNvSpPr/>
          <p:nvPr/>
        </p:nvSpPr>
        <p:spPr>
          <a:xfrm>
            <a:off x="8275320" y="2286000"/>
            <a:ext cx="3456432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49640" y="256032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CONVENIOS UNIVERSITARIOS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3090672"/>
            <a:ext cx="2953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como bolsa de trabajo y prácticas.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4041648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EJEMPLO:  </a:t>
            </a: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de </a:t>
            </a:r>
            <a:r>
              <a:rPr lang="en-US" sz="1400" b="1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[$150]</a:t>
            </a: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comisión </a:t>
            </a:r>
            <a:r>
              <a:rPr lang="en-US" sz="1400" b="1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[$7.50]</a:t>
            </a: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costo de red por 3 liberaciones </a:t>
            </a:r>
            <a:r>
              <a:rPr lang="en-US" sz="1400" b="1" dirty="0">
                <a:solidFill>
                  <a:srgbClr val="00A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$0.01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4709160"/>
            <a:ext cx="11002975" cy="1737360"/>
          </a:xfrm>
          <a:prstGeom prst="rect">
            <a:avLst/>
          </a:prstGeom>
          <a:solidFill>
            <a:srgbClr val="111111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344177"/>
              </p:ext>
            </p:extLst>
          </p:nvPr>
        </p:nvGraphicFramePr>
        <p:xfrm>
          <a:off x="594360" y="4617720"/>
          <a:ext cx="11000232" cy="21386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Workana / Upwork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Grupos de Redes </a:t>
                      </a:r>
                      <a:r>
                        <a:rPr lang="en-US" sz="1200" dirty="0" err="1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Sociales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WORKING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 principiantes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Compites con </a:t>
                      </a:r>
                      <a:r>
                        <a:rPr lang="en-US" sz="1200" dirty="0" err="1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expertos</a:t>
                      </a: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(Mercado </a:t>
                      </a:r>
                      <a:r>
                        <a:rPr lang="en-US" sz="1200" dirty="0" err="1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saturado</a:t>
                      </a: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Pago protegido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Cobro en dólares (Bolivia)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 y lento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Efectivo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USDC al instante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Comisión al freelancer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8449733" y="123444"/>
            <a:ext cx="416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IDEATÓN STELLAR BOLIVIA 2026  ·  WORKING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045952" y="651052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00A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 VALIDACIÓN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CÓMO LO VAMOS A </a:t>
            </a:r>
            <a:r>
              <a:rPr lang="en-US" sz="3400" dirty="0">
                <a:solidFill>
                  <a:srgbClr val="3D5A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011680"/>
            <a:ext cx="11002975" cy="2194560"/>
          </a:xfrm>
          <a:prstGeom prst="rect">
            <a:avLst/>
          </a:prstGeom>
          <a:solidFill>
            <a:srgbClr val="111111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20240"/>
          <a:ext cx="11000232" cy="2124456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HIPÓTESIS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CÓMO LA PROBAMOS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META</a:t>
                      </a:r>
                      <a:endParaRPr lang="en-US" sz="12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A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empresas pagan por adelantado si el dinero queda protegido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Piloto a 10 negocios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D5AF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[3]</a:t>
                      </a: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dicen que sí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estudiantes quieren cobrar en USDC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Landing con registro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D5AF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[50]</a:t>
                      </a: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registros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flujo de hitos se entiende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Pruebas de uso del prototipo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3D5AF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[80]</a:t>
                      </a:r>
                      <a:r>
                        <a:rPr lang="en-US" sz="125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lo completa solo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9436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HOJA DE RUTA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4360" y="4846320"/>
            <a:ext cx="237744" cy="237744"/>
          </a:xfrm>
          <a:prstGeom prst="rect">
            <a:avLst/>
          </a:prstGeom>
          <a:solidFill>
            <a:srgbClr val="FDDA24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2104" y="4965192"/>
            <a:ext cx="3593592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dash"/>
          </a:ln>
        </p:spPr>
      </p:sp>
      <p:sp>
        <p:nvSpPr>
          <p:cNvPr id="5" name="Text 6"/>
          <p:cNvSpPr txBox="1"/>
          <p:nvPr/>
        </p:nvSpPr>
        <p:spPr>
          <a:xfrm>
            <a:off x="928116" y="46548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 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523036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+ 20 entrevistas + mockup navegable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62272" y="4846320"/>
            <a:ext cx="237744" cy="237744"/>
          </a:xfrm>
          <a:prstGeom prst="rect">
            <a:avLst/>
          </a:prstGeom>
          <a:solidFill>
            <a:srgbClr val="3D5AFE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0016" y="4965192"/>
            <a:ext cx="3593592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4759452" y="4631267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 2–3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462272" y="523036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en testnet con </a:t>
            </a:r>
            <a:r>
              <a:rPr lang="en-US" sz="1200" b="1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[universidad]</a:t>
            </a: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200" b="1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negocios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330184" y="4846320"/>
            <a:ext cx="237744" cy="237744"/>
          </a:xfrm>
          <a:prstGeom prst="rect">
            <a:avLst/>
          </a:prstGeom>
          <a:solidFill>
            <a:srgbClr val="00A676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45652" y="457572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 4–6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330184" y="523036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Lanzamiento en mainnet y retiro a moneda local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94360" y="617220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PRIMER SEGMENTO:  </a:t>
            </a: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estudiantes de diseño, sistemas y marketing de </a:t>
            </a:r>
            <a:r>
              <a:rPr lang="en-US" sz="1300" b="1" dirty="0" err="1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distintas</a:t>
            </a:r>
            <a:r>
              <a:rPr lang="en-US" sz="1300" b="1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b="1" dirty="0" err="1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universidades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64190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IDEATÓN STELLAR BOLIVIA 2026  ·  WORKING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0682935" y="64190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1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9B19195C-3B55-4A2E-8F96-687C4BD92D14}"/>
              </a:ext>
            </a:extLst>
          </p:cNvPr>
          <p:cNvSpPr/>
          <p:nvPr/>
        </p:nvSpPr>
        <p:spPr>
          <a:xfrm>
            <a:off x="8598408" y="4965192"/>
            <a:ext cx="3593592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00A67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VALIDAMOS CON USUARIOS REALES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1002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HABLAMOS CON </a:t>
            </a:r>
            <a:r>
              <a:rPr lang="en-US" sz="3400" dirty="0">
                <a:solidFill>
                  <a:srgbClr val="3D5A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[N]</a:t>
            </a:r>
            <a:r>
              <a:rPr lang="en-US" sz="34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PERSONAS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572768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Formulario de 7 preguntas  +  5 entrevistas a profundidad.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3456432" cy="1600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240280"/>
            <a:ext cx="3456432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42316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3D5A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[X]%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0040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tuvo un pago atrasado o nunca le pagaron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2331720"/>
            <a:ext cx="3456432" cy="1600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2240280"/>
            <a:ext cx="3456432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42316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3D5A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[X]%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20040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paga por adelantado sin referencias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66760" y="2331720"/>
            <a:ext cx="3456432" cy="1600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Shape 12"/>
          <p:cNvSpPr/>
          <p:nvPr/>
        </p:nvSpPr>
        <p:spPr>
          <a:xfrm>
            <a:off x="8275320" y="2240280"/>
            <a:ext cx="3456432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58200" y="2423160"/>
            <a:ext cx="3090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3D5AF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[X]%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320040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usaría pagos protegidos por entregas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4251960"/>
            <a:ext cx="5349240" cy="1325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4160520"/>
            <a:ext cx="53492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DD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361688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[cita real de un freelancer sobre un pago que no llegó]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0749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Diseñadora, 23 años, La Paz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28232" y="4251960"/>
            <a:ext cx="5349240" cy="132588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3" name="Shape 21"/>
          <p:cNvSpPr/>
          <p:nvPr/>
        </p:nvSpPr>
        <p:spPr>
          <a:xfrm>
            <a:off x="6336792" y="4160520"/>
            <a:ext cx="534924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19672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FDD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</a:t>
            </a:r>
            <a:endParaRPr lang="en-US" sz="4400" dirty="0"/>
          </a:p>
        </p:txBody>
      </p:sp>
      <p:sp>
        <p:nvSpPr>
          <p:cNvPr id="25" name="Text 23"/>
          <p:cNvSpPr txBox="1"/>
          <p:nvPr/>
        </p:nvSpPr>
        <p:spPr>
          <a:xfrm>
            <a:off x="7022592" y="4361688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[cita real de una empresa sobre contratar sin confianza]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022592" y="50749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Dueño de [rubro], Santa Cruz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571500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APRENDIMOS:  </a:t>
            </a:r>
            <a:r>
              <a:rPr lang="en-US" sz="1400" b="1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[1–2 hallazgos que cambiaron tu idea]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64190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IDEATÓN STELLAR BOLIVIA 2026  ·  WORKING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682935" y="641908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FDD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QUIÉNES SOMOS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EQUIPO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3456432" cy="1828800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11096" y="2194560"/>
            <a:ext cx="822960" cy="822960"/>
          </a:xfrm>
          <a:prstGeom prst="ellipse">
            <a:avLst/>
          </a:prstGeom>
          <a:solidFill>
            <a:srgbClr val="FDDA2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309067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Jose Miguel Bustamante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0156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DD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/ NEGOCIO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920240"/>
            <a:ext cx="3456432" cy="1828800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51576" y="2194560"/>
            <a:ext cx="822960" cy="822960"/>
          </a:xfrm>
          <a:prstGeom prst="ellipse">
            <a:avLst/>
          </a:prstGeom>
          <a:solidFill>
            <a:srgbClr val="3D5A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309067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Jose Miguel Bustamante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40156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5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75320" y="1920240"/>
            <a:ext cx="3456432" cy="1828800"/>
          </a:xfrm>
          <a:prstGeom prst="rect">
            <a:avLst/>
          </a:prstGeom>
          <a:solidFill>
            <a:srgbClr val="1C1C1C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92056" y="2194560"/>
            <a:ext cx="822960" cy="822960"/>
          </a:xfrm>
          <a:prstGeom prst="ellipse">
            <a:avLst/>
          </a:prstGeom>
          <a:solidFill>
            <a:srgbClr val="00A67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58200" y="3090672"/>
            <a:ext cx="3090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Jose Miguel Bustamante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340156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/ UX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0690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DD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BUSCAMOS:  </a:t>
            </a: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al Builder Accelerator, mentoría en Soroban y alianzas con universidades.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4709160"/>
            <a:ext cx="11002975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4892040"/>
            <a:ext cx="11002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IMPORTA TU EXPERIENCIA.</a:t>
            </a:r>
            <a:endParaRPr lang="en-US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IMPORTA </a:t>
            </a:r>
            <a:endParaRPr lang="en-US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FDDA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SABES HACER</a:t>
            </a: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635508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ing Stellar">
  <a:themeElements>
    <a:clrScheme name="Working Stellar">
      <a:dk1>
        <a:srgbClr val="0E1116"/>
      </a:dk1>
      <a:lt1>
        <a:srgbClr val="FFFFFF"/>
      </a:lt1>
      <a:dk2>
        <a:srgbClr val="1C2230"/>
      </a:dk2>
      <a:lt2>
        <a:srgbClr val="F4F6F8"/>
      </a:lt2>
      <a:accent1>
        <a:srgbClr val="FDDA24"/>
      </a:accent1>
      <a:accent2>
        <a:srgbClr val="7B61FF"/>
      </a:accent2>
      <a:accent3>
        <a:srgbClr val="00C2A8"/>
      </a:accent3>
      <a:accent4>
        <a:srgbClr val="FF6B6B"/>
      </a:accent4>
      <a:accent5>
        <a:srgbClr val="3D8BFD"/>
      </a:accent5>
      <a:accent6>
        <a:srgbClr val="64748B"/>
      </a:accent6>
      <a:hlink>
        <a:srgbClr val="3D8BFD"/>
      </a:hlink>
      <a:folHlink>
        <a:srgbClr val="7B61FF"/>
      </a:folHlink>
    </a:clrScheme>
    <a:fontScheme name="Working Stellar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1047</Words>
  <Application>Microsoft Office PowerPoint</Application>
  <PresentationFormat>Panorámica</PresentationFormat>
  <Paragraphs>179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Bahnschrift SemiLight</vt:lpstr>
      <vt:lpstr>Calibri</vt:lpstr>
      <vt:lpstr>Working Stellar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 miguel bustamante condori</cp:lastModifiedBy>
  <cp:revision>5</cp:revision>
  <dcterms:created xsi:type="dcterms:W3CDTF">2026-10-17T21:37:07Z</dcterms:created>
  <dcterms:modified xsi:type="dcterms:W3CDTF">2026-10-18T04:54:59Z</dcterms:modified>
</cp:coreProperties>
</file>