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685800"/>
            <a:ext cx="4160520" cy="457200"/>
          </a:xfrm>
          <a:prstGeom prst="rect">
            <a:avLst/>
          </a:prstGeom>
          <a:solidFill>
            <a:srgbClr val="FDDA24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94360" y="68580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WORKING  ×  STELLAR BOLIVIA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983480" y="777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02 · PAGOS Y REMESAS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WORKING</a:t>
            </a:r>
            <a:pPr indent="0" marL="0">
              <a:buNone/>
            </a:pPr>
            <a:r>
              <a:rPr lang="en-US" sz="115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115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61188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preguntamos cuántos años de experiencia tienes.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41148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Preguntamos </a:t>
            </a:r>
            <a:pPr indent="0" marL="0">
              <a:buNone/>
            </a:pPr>
            <a:r>
              <a:rPr lang="en-US" sz="26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sabes hacer</a:t>
            </a:r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49834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 de freelancing para estudiantes y recién egresados en Bolivia.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Pagos protegidos por contrato inteligente en Stellar.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457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PROBLEMA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NADIE CONFÍA,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NADIE COBRA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lados del mismo muro: la falta de confianza.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5349240" cy="2788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240280"/>
            <a:ext cx="5349240" cy="2788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ESTUDIANTE / EGRESADO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15468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 sin experiencia demostrable y no consigue su primer cliente.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trabaja, le pagan tarde, menos de lo acordado o nunca.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Cobrar en dólares desde Bolivia es caro y complicado.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28232" y="2331720"/>
            <a:ext cx="5349240" cy="2788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6336792" y="2240280"/>
            <a:ext cx="5349240" cy="2788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02552" y="25603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EMPRESA / QUIEN CONTRATA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702552" y="3154680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confía en pagar por adelantado a alguien sin historial.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paga al final, el freelancer no confía.</a:t>
            </a:r>
            <a:endParaRPr lang="en-US" sz="1450" dirty="0"/>
          </a:p>
          <a:p>
            <a:pPr marL="203200" indent="-2032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trato no se cierra: se pierde el talento y el trabajo.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94360" y="5349240"/>
            <a:ext cx="11002975" cy="9144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0120" y="53492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problema no es la falta de talento. Es la falta de </a:t>
            </a:r>
            <a:pPr indent="0" marL="0">
              <a:buNone/>
            </a:pPr>
            <a:r>
              <a:rPr lang="en-US" sz="2100" b="1" i="1" dirty="0">
                <a:solidFill>
                  <a:srgbClr val="FDD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CONFIANZA</a:t>
            </a:r>
            <a:pPr indent="0" marL="0">
              <a:buNone/>
            </a:pPr>
            <a:r>
              <a:rPr lang="en-US" sz="21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0A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VALIDAMOS CON USUARIOS REALES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HABLAMOS CON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[N]</a:t>
            </a:r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PERSONAS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Formulario de 7 preguntas  +  5 entrevistas a profundidad.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3456432" cy="1600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240280"/>
            <a:ext cx="3456432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[X]%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200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tuvo un pago atrasado o nunca le pagaron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2331720"/>
            <a:ext cx="3456432" cy="1600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4434840" y="2240280"/>
            <a:ext cx="3456432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42316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[X]%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200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paga por adelantado sin referencias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66760" y="2331720"/>
            <a:ext cx="3456432" cy="1600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Shape 12"/>
          <p:cNvSpPr/>
          <p:nvPr/>
        </p:nvSpPr>
        <p:spPr>
          <a:xfrm>
            <a:off x="8275320" y="2240280"/>
            <a:ext cx="3456432" cy="160020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58200" y="242316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[X]%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200400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usaría pagos protegidos por entregas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" y="4251960"/>
            <a:ext cx="5349240" cy="1325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4160520"/>
            <a:ext cx="53492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“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436168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[cita real de un freelancer sobre un pago que no llegó]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5074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Diseñadora, 23 años, La Paz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28232" y="4251960"/>
            <a:ext cx="5349240" cy="13258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Shape 21"/>
          <p:cNvSpPr/>
          <p:nvPr/>
        </p:nvSpPr>
        <p:spPr>
          <a:xfrm>
            <a:off x="6336792" y="4160520"/>
            <a:ext cx="5349240" cy="1325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9672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“</a:t>
            </a:r>
            <a:endParaRPr lang="en-US" sz="4400" dirty="0"/>
          </a:p>
        </p:txBody>
      </p:sp>
      <p:sp>
        <p:nvSpPr>
          <p:cNvPr id="25" name="Text 23"/>
          <p:cNvSpPr txBox="1"/>
          <p:nvPr/>
        </p:nvSpPr>
        <p:spPr>
          <a:xfrm>
            <a:off x="7022592" y="4361688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[cita real de una empresa sobre contratar sin confianza]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7022592" y="5074920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Dueño de [rubro], Santa Cruz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571500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APRENDIMOS:  </a:t>
            </a:r>
            <a:pPr indent="0" marL="0">
              <a:buNone/>
            </a:pPr>
            <a:r>
              <a:rPr lang="en-US" sz="14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[1–2 hallazgos que cambiaron tu idea]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SOLUCIÓN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FUNCIONA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se bloquea al inicio y se libera con cada entrega.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2615184" cy="21031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286000"/>
            <a:ext cx="2615184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56032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1546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PUBLICA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6576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empresa crea el proyecto con hitos (ej. logo por $150 en 3 entregas).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75304" y="2377440"/>
            <a:ext cx="2615184" cy="21031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Shape 10"/>
          <p:cNvSpPr/>
          <p:nvPr/>
        </p:nvSpPr>
        <p:spPr>
          <a:xfrm>
            <a:off x="3483864" y="2286000"/>
            <a:ext cx="2615184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58184" y="256032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58184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758184" y="31546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DEPOSITA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58184" y="36576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 en USDC y el dinero queda bloqueado en un contrato, no en nuestra cuenta.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4808" y="2377440"/>
            <a:ext cx="2615184" cy="21031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8" name="Shape 16"/>
          <p:cNvSpPr/>
          <p:nvPr/>
        </p:nvSpPr>
        <p:spPr>
          <a:xfrm>
            <a:off x="6373368" y="2286000"/>
            <a:ext cx="2615184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47688" y="256032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4768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1546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ENTREGA Y APRUEBA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647688" y="36576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freelancer entrega cada hito y la empresa lo aprueba.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54312" y="2377440"/>
            <a:ext cx="2615184" cy="21031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4" name="Shape 22"/>
          <p:cNvSpPr/>
          <p:nvPr/>
        </p:nvSpPr>
        <p:spPr>
          <a:xfrm>
            <a:off x="9262872" y="2286000"/>
            <a:ext cx="2615184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37192" y="2560320"/>
            <a:ext cx="4572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37192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537192" y="315468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COBRA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537192" y="365760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pago de ese hito llega a su billetera en segundos.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94360" y="4736592"/>
            <a:ext cx="201168" cy="201168"/>
          </a:xfrm>
          <a:prstGeom prst="rect">
            <a:avLst/>
          </a:prstGeom>
          <a:solidFill>
            <a:srgbClr val="FDDA24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1832" y="466344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 LIBERA SOLO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941832" y="505663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cliente no responde en </a:t>
            </a:r>
            <a:pPr indent="0" marL="0">
              <a:buNone/>
            </a:pPr>
            <a:r>
              <a:rPr lang="en-US" sz="12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[7]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días, el hito se libera automáticamente.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434840" y="4736592"/>
            <a:ext cx="201168" cy="201168"/>
          </a:xfrm>
          <a:prstGeom prst="rect">
            <a:avLst/>
          </a:prstGeom>
          <a:solidFill>
            <a:srgbClr val="FDDA24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82312" y="466344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MEDIACIÓN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4782312" y="505663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hay un desacuerdo, interviene un mediador.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75320" y="4736592"/>
            <a:ext cx="201168" cy="201168"/>
          </a:xfrm>
          <a:prstGeom prst="rect">
            <a:avLst/>
          </a:prstGeom>
          <a:solidFill>
            <a:srgbClr val="FDDA24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622792" y="4663440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HISTORIAL VERIFICABLE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8622792" y="5056632"/>
            <a:ext cx="3090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proyecto terminado queda como portafolio real del freelancer.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0A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STELLAR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STELLAR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red diseñada para mover dinero, no para construir escrows desde cero.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6812280" cy="3383280"/>
          </a:xfrm>
          <a:prstGeom prst="rect">
            <a:avLst/>
          </a:prstGeom>
          <a:solidFill>
            <a:srgbClr val="111111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2286000"/>
          <a:ext cx="681228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749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LO QUE NECESITA WORKING</a:t>
                      </a:r>
                      <a:endParaRPr lang="en-US" sz="12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11111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LO QUE DA STELLAR</a:t>
                      </a:r>
                      <a:endParaRPr lang="en-US" sz="125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A2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Cobrar en dólares en Bolivia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nativo de Circle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hitos pequeños ($10–20)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Comisión &lt; $0.001 y confirmación en ~5 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Escrow seguro sin construirlo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Escrow por hitos sobre Soroban (Trustless Work)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Usuarios que no saben de cripto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paga el fee; se entra con passkey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Llegar a bolivianos a futuro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 de anchors para pasar a moneda local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88900" marB="889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909560" y="2377440"/>
            <a:ext cx="3779215" cy="19202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8" name="Shape 5"/>
          <p:cNvSpPr/>
          <p:nvPr/>
        </p:nvSpPr>
        <p:spPr>
          <a:xfrm>
            <a:off x="7818120" y="2286000"/>
            <a:ext cx="3779215" cy="1920240"/>
          </a:xfrm>
          <a:prstGeom prst="rect">
            <a:avLst/>
          </a:prstGeom>
          <a:solidFill>
            <a:srgbClr val="111111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18120" y="2286000"/>
            <a:ext cx="3779215" cy="457200"/>
          </a:xfrm>
          <a:prstGeom prst="rect">
            <a:avLst/>
          </a:prstGeom>
          <a:solidFill>
            <a:srgbClr val="FDDA2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818120" y="2286000"/>
            <a:ext cx="3779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EN TESTNET  (+10%)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092440" y="2926080"/>
            <a:ext cx="3230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creado, financiado y con un hito liberado.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092440" y="3611880"/>
            <a:ext cx="32305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DD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[Captura de stellar.expert + hash de la tx]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09560" y="4526280"/>
            <a:ext cx="3779215" cy="12344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Shape 11"/>
          <p:cNvSpPr/>
          <p:nvPr/>
        </p:nvSpPr>
        <p:spPr>
          <a:xfrm>
            <a:off x="7818120" y="4434840"/>
            <a:ext cx="3779215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2440" y="4572000"/>
            <a:ext cx="32305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“En otras redes tendríamos que programar y auditar el escrow, y el usuario pagaría gas. En Stellar ya existe.”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589788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Base, Solana o Tron también son rápidas. Stellar gana en pagos: USDC nativo + anchors + escrow listo.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MODELO DE NEGOCIO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GANAMOS DINERO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Ganamos solo cuando el freelancer cobra.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77440"/>
            <a:ext cx="3456432" cy="1508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286000"/>
            <a:ext cx="3456432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5603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COMISIÓN AL CONTRATANTE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090672"/>
            <a:ext cx="2953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en cada pago liberado. Al estudiante no le cobramos nada.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26280" y="2377440"/>
            <a:ext cx="3456432" cy="1508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4434840" y="2286000"/>
            <a:ext cx="3456432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09160" y="25603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VISIBILIDAD DESTACADA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3090672"/>
            <a:ext cx="2953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Perfiles y vacantes destacadas: </a:t>
            </a:r>
            <a:pPr indent="0" marL="0">
              <a:buNone/>
            </a:pPr>
            <a:r>
              <a:rPr lang="en-US" sz="125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[Bs X]</a:t>
            </a:r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 mes.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366760" y="2377440"/>
            <a:ext cx="3456432" cy="150876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Shape 12"/>
          <p:cNvSpPr/>
          <p:nvPr/>
        </p:nvSpPr>
        <p:spPr>
          <a:xfrm>
            <a:off x="8275320" y="2286000"/>
            <a:ext cx="3456432" cy="150876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49640" y="256032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CONVENIOS UNIVERSITARIOS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549640" y="3090672"/>
            <a:ext cx="2953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como bolsa de trabajo y prácticas.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04164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EJEMPLO:  </a:t>
            </a:r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de </a:t>
            </a:r>
            <a:pPr indent="0" marL="0">
              <a:buNone/>
            </a:pPr>
            <a:r>
              <a:rPr lang="en-US" sz="14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[$150]</a:t>
            </a:r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comisión </a:t>
            </a:r>
            <a:pPr indent="0" marL="0">
              <a:buNone/>
            </a:pPr>
            <a:r>
              <a:rPr lang="en-US" sz="14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[$7.50]</a:t>
            </a:r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costo de red por 3 liberaciones </a:t>
            </a:r>
            <a:pPr indent="0" marL="0">
              <a:buNone/>
            </a:pPr>
            <a:r>
              <a:rPr lang="en-US" sz="1400" b="1" dirty="0">
                <a:solidFill>
                  <a:srgbClr val="00A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$0.01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709160"/>
            <a:ext cx="11002975" cy="1737360"/>
          </a:xfrm>
          <a:prstGeom prst="rect">
            <a:avLst/>
          </a:prstGeom>
          <a:solidFill>
            <a:srgbClr val="111111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4617720"/>
          <a:ext cx="1100297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834640"/>
                <a:gridCol w="2834640"/>
                <a:gridCol w="2221992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Workana / Upwork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Grupos de Facebook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WORKING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A2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 principiantes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Compites con expertos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Pago protegido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Cobro en dólares (Bolivia)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 y lento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Efectivo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al instante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Comisión al freelancer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[X]%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63500" marB="635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E457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RETENCIÓN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QUÉ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SE VAN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572768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Quedarse vale más que ahorrarse la comisión.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2615184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2240280"/>
            <a:ext cx="2615184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532888"/>
            <a:ext cx="365760" cy="109728"/>
          </a:xfrm>
          <a:prstGeom prst="rect">
            <a:avLst/>
          </a:prstGeom>
          <a:solidFill>
            <a:srgbClr val="3D5A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7889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 VENDE LA PROTECCIÓN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447288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escrow se necesita en cada proyecto, no solo en el primer match.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575304" y="2331720"/>
            <a:ext cx="2615184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1" name="Shape 9"/>
          <p:cNvSpPr/>
          <p:nvPr/>
        </p:nvSpPr>
        <p:spPr>
          <a:xfrm>
            <a:off x="3483864" y="2240280"/>
            <a:ext cx="2615184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8184" y="2532888"/>
            <a:ext cx="365760" cy="109728"/>
          </a:xfrm>
          <a:prstGeom prst="rect">
            <a:avLst/>
          </a:prstGeom>
          <a:solidFill>
            <a:srgbClr val="FDDA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758184" y="27889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FREELANCER COBRA 100%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758184" y="3447288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comisión y con reputación que solo crece dentro de Working.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64808" y="2331720"/>
            <a:ext cx="2615184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Shape 14"/>
          <p:cNvSpPr/>
          <p:nvPr/>
        </p:nvSpPr>
        <p:spPr>
          <a:xfrm>
            <a:off x="6373368" y="2240280"/>
            <a:ext cx="2615184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47688" y="2532888"/>
            <a:ext cx="365760" cy="109728"/>
          </a:xfrm>
          <a:prstGeom prst="rect">
            <a:avLst/>
          </a:prstGeom>
          <a:solidFill>
            <a:srgbClr val="00A67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47688" y="27889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 VIVE ADENTRO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3447288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Chat, hitos, entregables y ganancias en un lugar. Salir da más trabajo.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354312" y="2331720"/>
            <a:ext cx="2615184" cy="20116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Shape 19"/>
          <p:cNvSpPr/>
          <p:nvPr/>
        </p:nvSpPr>
        <p:spPr>
          <a:xfrm>
            <a:off x="9262872" y="2240280"/>
            <a:ext cx="2615184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37192" y="2532888"/>
            <a:ext cx="365760" cy="109728"/>
          </a:xfrm>
          <a:prstGeom prst="rect">
            <a:avLst/>
          </a:prstGeom>
          <a:solidFill>
            <a:srgbClr val="E457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537192" y="2788920"/>
            <a:ext cx="2066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COMISIÓN DECRECIENTE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537192" y="3447288"/>
            <a:ext cx="20665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a la empresa y baja con la lealtad: irse casi no ahorra.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85800" y="4754880"/>
            <a:ext cx="11002975" cy="16916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4663440"/>
            <a:ext cx="11002975" cy="1691640"/>
          </a:xfrm>
          <a:prstGeom prst="rect">
            <a:avLst/>
          </a:prstGeom>
          <a:solidFill>
            <a:srgbClr val="111111"/>
          </a:solidFill>
          <a:ln w="254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4892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TRANSPARENTE, SIN SORPRESAS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60120" y="5285232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empresa paga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$105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$100 al freelancer + $5 Working (5%).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freelancer recibe sus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DD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 completos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086600" y="4937760"/>
            <a:ext cx="0" cy="114300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60920" y="4892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LIBERACIÓN INMEDIATA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528523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dinero ya está depositado y retenido. Al aprobar el hito, el freelancer cobra en </a:t>
            </a:r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segundos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gracias a Stellar.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00A67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PLAN DE VALIDACIÓN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13232"/>
            <a:ext cx="11002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LO VAMOS A </a:t>
            </a:r>
            <a:pPr indent="0" marL="0">
              <a:buNone/>
            </a:pPr>
            <a:r>
              <a:rPr lang="en-US" sz="3400" dirty="0">
                <a:solidFill>
                  <a:srgbClr val="3D5AF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11002975" cy="2194560"/>
          </a:xfrm>
          <a:prstGeom prst="rect">
            <a:avLst/>
          </a:prstGeom>
          <a:solidFill>
            <a:srgbClr val="111111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20240"/>
          <a:ext cx="11002975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931920"/>
                <a:gridCol w="2313432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HIPÓTESIS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CÓMO LA PROBAMOS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11111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META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DA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empresas pagan por adelantado si el dinero queda protegido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Piloto a 10 negocios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AF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[3]</a:t>
                      </a:r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dicen que sí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estudiantes quieren cobrar en USDC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Landing con registro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AF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[50]</a:t>
                      </a:r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registros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flujo de hitos se entiende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Pruebas de uso del prototipo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AF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[80]</a:t>
                      </a:r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lo completa solo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76200" marB="76200" anchor="ctr">
                    <a:lnL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1111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9436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HOJA DE RUTA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94360" y="4846320"/>
            <a:ext cx="237744" cy="237744"/>
          </a:xfrm>
          <a:prstGeom prst="rect">
            <a:avLst/>
          </a:prstGeom>
          <a:solidFill>
            <a:srgbClr val="FDDA24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32104" y="4965192"/>
            <a:ext cx="3593592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960120" y="47731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MES 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523036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+ 20 entrevistas + mockup navegable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62272" y="4846320"/>
            <a:ext cx="237744" cy="237744"/>
          </a:xfrm>
          <a:prstGeom prst="rect">
            <a:avLst/>
          </a:prstGeom>
          <a:solidFill>
            <a:srgbClr val="3D5AFE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700016" y="4965192"/>
            <a:ext cx="3593592" cy="0"/>
          </a:xfrm>
          <a:prstGeom prst="line">
            <a:avLst/>
          </a:prstGeom>
          <a:noFill/>
          <a:ln w="19050">
            <a:solidFill>
              <a:srgbClr val="111111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4828032" y="47731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MES 2–3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462272" y="523036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en testnet con </a:t>
            </a:r>
            <a:pPr indent="0" marL="0">
              <a:buNone/>
            </a:pPr>
            <a:r>
              <a:rPr lang="en-US" sz="12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[universidad]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 </a:t>
            </a:r>
            <a:pPr indent="0" marL="0">
              <a:buNone/>
            </a:pPr>
            <a:r>
              <a:rPr lang="en-US" sz="12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negocios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330184" y="4846320"/>
            <a:ext cx="237744" cy="237744"/>
          </a:xfrm>
          <a:prstGeom prst="rect">
            <a:avLst/>
          </a:prstGeom>
          <a:solidFill>
            <a:srgbClr val="00A676"/>
          </a:solidFill>
          <a:ln w="19050">
            <a:solidFill>
              <a:srgbClr val="11111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95944" y="477316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MES 4–6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30184" y="5230368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Lanzamiento en mainnet y retiro a moneda local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617220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PRIMER SEGMENTO: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estudiantes de diseño, sistemas y marketing de </a:t>
            </a:r>
            <a:pPr indent="0" marL="0">
              <a:buNone/>
            </a:pPr>
            <a:r>
              <a:rPr lang="en-US" sz="13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[tu universidad]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6419088"/>
            <a:ext cx="8229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IDEATÓN STELLAR BOLIVIA 2026  ·  WORKING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682935" y="6419088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QUIÉNES SOMOS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EQUIPO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3456432" cy="1828800"/>
          </a:xfrm>
          <a:prstGeom prst="rect">
            <a:avLst/>
          </a:prstGeom>
          <a:solidFill>
            <a:srgbClr val="1C1C1C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911096" y="2194560"/>
            <a:ext cx="822960" cy="822960"/>
          </a:xfrm>
          <a:prstGeom prst="ellipse">
            <a:avLst/>
          </a:prstGeom>
          <a:solidFill>
            <a:srgbClr val="FDDA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3090672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[Nombre]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40156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DDA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/ NEGOCIO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56432" cy="1828800"/>
          </a:xfrm>
          <a:prstGeom prst="rect">
            <a:avLst/>
          </a:prstGeom>
          <a:solidFill>
            <a:srgbClr val="1C1C1C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51576" y="2194560"/>
            <a:ext cx="822960" cy="822960"/>
          </a:xfrm>
          <a:prstGeom prst="ellipse">
            <a:avLst/>
          </a:prstGeom>
          <a:solidFill>
            <a:srgbClr val="3D5AF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3090672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[Nombre]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40156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D5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DESARROLLO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75320" y="1920240"/>
            <a:ext cx="3456432" cy="1828800"/>
          </a:xfrm>
          <a:prstGeom prst="rect">
            <a:avLst/>
          </a:prstGeom>
          <a:solidFill>
            <a:srgbClr val="1C1C1C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92056" y="2194560"/>
            <a:ext cx="822960" cy="822960"/>
          </a:xfrm>
          <a:prstGeom prst="ellipse">
            <a:avLst/>
          </a:prstGeom>
          <a:solidFill>
            <a:srgbClr val="00A67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58200" y="3090672"/>
            <a:ext cx="3090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[Nombre]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58200" y="340156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DISEÑO / UX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0690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BUSCAMOS:  </a:t>
            </a:r>
            <a:pPr indent="0" marL="0">
              <a:buNone/>
            </a:pPr>
            <a:r>
              <a:rPr lang="en-US" sz="14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al Builder Accelerator, mentoría en Soroban y alianzas con universidades.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4360" y="4709160"/>
            <a:ext cx="11002975" cy="0"/>
          </a:xfrm>
          <a:prstGeom prst="line">
            <a:avLst/>
          </a:prstGeom>
          <a:noFill/>
          <a:ln w="1270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489204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IMPORTA TU EXPERIENCIA.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IMPORTA 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FDDA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SABES HACER</a:t>
            </a:r>
            <a:pPr indent="0" marL="0"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.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6355080"/>
            <a:ext cx="110029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[correo]   ·   [Instagram / LinkedIn]   ·   @stellar_bolivia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ing Stellar">
  <a:themeElements>
    <a:clrScheme name="Working Stellar">
      <a:dk1>
        <a:srgbClr val="0E1116"/>
      </a:dk1>
      <a:lt1>
        <a:srgbClr val="FFFFFF"/>
      </a:lt1>
      <a:dk2>
        <a:srgbClr val="1C2230"/>
      </a:dk2>
      <a:lt2>
        <a:srgbClr val="F4F6F8"/>
      </a:lt2>
      <a:accent1>
        <a:srgbClr val="FDDA24"/>
      </a:accent1>
      <a:accent2>
        <a:srgbClr val="7B61FF"/>
      </a:accent2>
      <a:accent3>
        <a:srgbClr val="00C2A8"/>
      </a:accent3>
      <a:accent4>
        <a:srgbClr val="FF6B6B"/>
      </a:accent4>
      <a:accent5>
        <a:srgbClr val="3D8BFD"/>
      </a:accent5>
      <a:accent6>
        <a:srgbClr val="64748B"/>
      </a:accent6>
      <a:hlink>
        <a:srgbClr val="3D8BFD"/>
      </a:hlink>
      <a:folHlink>
        <a:srgbClr val="7B61FF"/>
      </a:folHlink>
    </a:clrScheme>
    <a:fontScheme name="Working Stellar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2026-10-17T21:37:07Z</dcterms:created>
  <dcterms:modified xsi:type="dcterms:W3CDTF">2026-10-17T21:37:07Z</dcterms:modified>
</cp:coreProperties>
</file>